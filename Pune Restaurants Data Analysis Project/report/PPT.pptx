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23417"/>
            <a:ext cx="7772400" cy="1470025"/>
          </a:xfrm>
        </p:spPr>
        <p:txBody>
          <a:bodyPr>
            <a:noAutofit/>
          </a:bodyPr>
          <a:lstStyle/>
          <a:p>
            <a:r>
              <a:rPr sz="3600" dirty="0"/>
              <a:t>Restaurant Rating Analysis &amp; Prediction</a:t>
            </a:r>
          </a:p>
          <a:p>
            <a:r>
              <a:rPr sz="3600" dirty="0"/>
              <a:t>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9072" y="3136392"/>
            <a:ext cx="5705856" cy="1355599"/>
          </a:xfrm>
        </p:spPr>
        <p:txBody>
          <a:bodyPr>
            <a:normAutofit/>
          </a:bodyPr>
          <a:lstStyle/>
          <a:p>
            <a:r>
              <a:rPr sz="2800" dirty="0"/>
              <a:t>Presented by: [</a:t>
            </a:r>
            <a:r>
              <a:rPr lang="en-US" sz="2800" dirty="0"/>
              <a:t>Vishwaraj Khatpe</a:t>
            </a:r>
            <a:r>
              <a:rPr sz="2800" dirty="0"/>
              <a:t>]</a:t>
            </a:r>
          </a:p>
          <a:p>
            <a:r>
              <a:rPr sz="2800" dirty="0"/>
              <a:t>Date: 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Objective: Analyze Pune restaurant data to uncover trends</a:t>
            </a:r>
          </a:p>
          <a:p>
            <a:pPr>
              <a:defRPr sz="2000"/>
            </a:pPr>
            <a:r>
              <a:t>Techniques used: EDA, Linear Regression, KMeans Clustering</a:t>
            </a:r>
          </a:p>
          <a:p>
            <a:pPr>
              <a:defRPr sz="2000"/>
            </a:pPr>
            <a:r>
              <a:t>Goals: Predict dining ratings &amp; discover location-based pricing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b="1" dirty="0"/>
              <a:t>Source</a:t>
            </a:r>
            <a:r>
              <a:rPr dirty="0"/>
              <a:t>: Zomato Pune dataset</a:t>
            </a:r>
          </a:p>
          <a:p>
            <a:pPr>
              <a:defRPr sz="2000"/>
            </a:pPr>
            <a:r>
              <a:rPr dirty="0"/>
              <a:t>~4900 rows, 17 columns</a:t>
            </a:r>
          </a:p>
          <a:p>
            <a:pPr>
              <a:defRPr sz="2000"/>
            </a:pPr>
            <a:r>
              <a:rPr b="1" dirty="0"/>
              <a:t>Key</a:t>
            </a:r>
            <a:r>
              <a:rPr dirty="0"/>
              <a:t> </a:t>
            </a:r>
            <a:r>
              <a:rPr b="1" dirty="0"/>
              <a:t>columns</a:t>
            </a:r>
            <a:r>
              <a:rPr dirty="0"/>
              <a:t>: </a:t>
            </a:r>
            <a:r>
              <a:rPr dirty="0" err="1"/>
              <a:t>Restaurant_Name</a:t>
            </a:r>
            <a:r>
              <a:rPr dirty="0"/>
              <a:t>, Category, Pricing_for_2, </a:t>
            </a:r>
            <a:r>
              <a:rPr dirty="0" err="1"/>
              <a:t>Dining_Rating</a:t>
            </a:r>
            <a:r>
              <a:rPr dirty="0"/>
              <a:t>, </a:t>
            </a:r>
            <a:r>
              <a:rPr dirty="0" err="1"/>
              <a:t>Is_Chain</a:t>
            </a:r>
            <a:r>
              <a:rPr dirty="0"/>
              <a:t>,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Removed duplicates and handled missing values</a:t>
            </a:r>
          </a:p>
          <a:p>
            <a:pPr>
              <a:defRPr sz="2000"/>
            </a:pPr>
            <a:r>
              <a:rPr dirty="0"/>
              <a:t>Converted </a:t>
            </a:r>
            <a:r>
              <a:rPr b="1" dirty="0"/>
              <a:t>'</a:t>
            </a:r>
            <a:r>
              <a:rPr b="1" dirty="0" err="1"/>
              <a:t>Is_Chain</a:t>
            </a:r>
            <a:r>
              <a:rPr b="1" dirty="0"/>
              <a:t>'</a:t>
            </a:r>
            <a:r>
              <a:rPr dirty="0"/>
              <a:t> to binary labels</a:t>
            </a:r>
          </a:p>
          <a:p>
            <a:pPr>
              <a:defRPr sz="2000"/>
            </a:pPr>
            <a:r>
              <a:rPr dirty="0"/>
              <a:t>Scaled numeric and encoded categorical variables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EDA 1 – Most Common Restaurant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9"/>
            <a:ext cx="6089904" cy="1243266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defRPr sz="2000"/>
            </a:pPr>
            <a:r>
              <a:rPr sz="2000" b="1" dirty="0"/>
              <a:t>Bar chart </a:t>
            </a:r>
            <a:r>
              <a:rPr sz="2000" dirty="0"/>
              <a:t>of top 10 </a:t>
            </a:r>
            <a:r>
              <a:rPr sz="2000" dirty="0" err="1"/>
              <a:t>Primary_Category</a:t>
            </a:r>
            <a:endParaRPr sz="2000" dirty="0"/>
          </a:p>
          <a:p>
            <a:pPr>
              <a:defRPr sz="2000"/>
            </a:pPr>
            <a:r>
              <a:rPr sz="2000" b="1" dirty="0"/>
              <a:t>Most popular</a:t>
            </a:r>
            <a:r>
              <a:rPr sz="2000" dirty="0"/>
              <a:t>: North Indian, </a:t>
            </a:r>
            <a:r>
              <a:rPr lang="en-US" sz="2000" dirty="0"/>
              <a:t>Chinese, fast food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44CC2-0479-201E-7E67-5969945B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98065"/>
            <a:ext cx="8013305" cy="3487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EDA 2 – Price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3764"/>
            <a:ext cx="8229600" cy="1271016"/>
          </a:xfrm>
        </p:spPr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1800" b="1" dirty="0"/>
              <a:t>Histogram</a:t>
            </a:r>
            <a:r>
              <a:rPr sz="1800" dirty="0"/>
              <a:t> of Pricing_for_2</a:t>
            </a:r>
          </a:p>
          <a:p>
            <a:pPr>
              <a:defRPr sz="2000"/>
            </a:pPr>
            <a:r>
              <a:rPr sz="1800" dirty="0"/>
              <a:t>Most restaurants priced between </a:t>
            </a:r>
            <a:r>
              <a:rPr sz="1800" b="1" dirty="0"/>
              <a:t>₹200 and ₹800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B9049-06C5-2170-5F7B-123B2CE02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754" y="2734057"/>
            <a:ext cx="6158492" cy="39216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EDA 3 – Correlation Between Price and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1017"/>
            <a:ext cx="8229600" cy="1536192"/>
          </a:xfrm>
        </p:spPr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1800" b="1" dirty="0"/>
              <a:t>Scatter plot</a:t>
            </a:r>
            <a:r>
              <a:rPr sz="1800" dirty="0"/>
              <a:t>: Pricing_for_2 vs </a:t>
            </a:r>
            <a:r>
              <a:rPr sz="1800" dirty="0" err="1"/>
              <a:t>Dining_Rating</a:t>
            </a:r>
            <a:endParaRPr sz="1800" dirty="0"/>
          </a:p>
          <a:p>
            <a:pPr>
              <a:defRPr sz="2000"/>
            </a:pPr>
            <a:r>
              <a:rPr sz="1800" b="1" dirty="0"/>
              <a:t>No strong correlation</a:t>
            </a:r>
            <a:r>
              <a:rPr sz="1800" dirty="0"/>
              <a:t>; some budget places highly rated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D5124-B4DD-134E-CC13-4C74379FD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39" y="2496313"/>
            <a:ext cx="6185922" cy="41593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EDA 4 – Word Cloud for 'Known For'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784" y="1243901"/>
            <a:ext cx="8129016" cy="1659319"/>
          </a:xfrm>
        </p:spPr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1800" b="1" dirty="0"/>
              <a:t>Word cloud </a:t>
            </a:r>
            <a:r>
              <a:rPr sz="1800" dirty="0"/>
              <a:t>from Known_for1 column</a:t>
            </a:r>
          </a:p>
          <a:p>
            <a:pPr>
              <a:defRPr sz="2000"/>
            </a:pPr>
            <a:r>
              <a:rPr sz="1800" b="1" dirty="0"/>
              <a:t>Popular themes</a:t>
            </a:r>
            <a:r>
              <a:rPr sz="1800" dirty="0"/>
              <a:t>: </a:t>
            </a:r>
            <a:r>
              <a:rPr lang="en-US" sz="1800" dirty="0"/>
              <a:t>Fast food, Desserts, </a:t>
            </a:r>
            <a:r>
              <a:rPr lang="en-US" sz="1800" dirty="0" err="1"/>
              <a:t>italian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62C6A-E6B6-08F0-12C8-183848C52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3" y="2583176"/>
            <a:ext cx="7223774" cy="39044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EDA 5 – Best Locations for Restaurants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3822198" cy="2706623"/>
          </a:xfrm>
        </p:spPr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1800" b="1" dirty="0"/>
              <a:t>Top-rated areas</a:t>
            </a:r>
            <a:r>
              <a:rPr sz="1800" dirty="0"/>
              <a:t>: Koregaon Park, Viman Nagar, Kothrud</a:t>
            </a:r>
          </a:p>
          <a:p>
            <a:pPr>
              <a:defRPr sz="2000"/>
            </a:pPr>
            <a:r>
              <a:rPr sz="1800" dirty="0"/>
              <a:t>Location-based rating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1340F-B166-9B6A-DB7A-EE1F588E3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083" y="1417638"/>
            <a:ext cx="4560758" cy="4178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EDA 6 – Delivery Rating vs Dining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3"/>
            <a:ext cx="8229600" cy="1691640"/>
          </a:xfrm>
        </p:spPr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1800" b="1" dirty="0"/>
              <a:t>Box plot </a:t>
            </a:r>
            <a:r>
              <a:rPr sz="1800" dirty="0"/>
              <a:t>comparison</a:t>
            </a:r>
          </a:p>
          <a:p>
            <a:pPr>
              <a:defRPr sz="2000"/>
            </a:pPr>
            <a:r>
              <a:rPr sz="1800" dirty="0"/>
              <a:t>Delivery and dining experience rating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D8880-5332-70B9-005B-3E9C871DB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05" y="2436872"/>
            <a:ext cx="7109293" cy="3991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EDA 7 – Chain vs Independent Restaurants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5615"/>
            <a:ext cx="8229600" cy="1481328"/>
          </a:xfrm>
        </p:spPr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1800" b="1" dirty="0"/>
              <a:t>Boxplot</a:t>
            </a:r>
            <a:r>
              <a:rPr sz="1800" dirty="0"/>
              <a:t> analysis for pricing and rating</a:t>
            </a:r>
          </a:p>
          <a:p>
            <a:pPr>
              <a:defRPr sz="2000"/>
            </a:pPr>
            <a:r>
              <a:rPr sz="1800" dirty="0"/>
              <a:t>Independent restaurants show </a:t>
            </a:r>
            <a:r>
              <a:rPr sz="1800" b="1" dirty="0"/>
              <a:t>wider variation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4C6BC-75CE-CC06-40FF-07A20EF23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04" y="2574032"/>
            <a:ext cx="5448992" cy="39364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EDA 8 – Best Budget-Friendly Restaurants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4985"/>
            <a:ext cx="8229600" cy="1399032"/>
          </a:xfrm>
        </p:spPr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1800" b="1" dirty="0"/>
              <a:t>Filtered</a:t>
            </a:r>
            <a:r>
              <a:rPr sz="1800" dirty="0"/>
              <a:t>: Rating ≥ 4.</a:t>
            </a:r>
            <a:r>
              <a:rPr lang="en-US" sz="1800" dirty="0"/>
              <a:t>4</a:t>
            </a:r>
            <a:r>
              <a:rPr sz="1800" dirty="0"/>
              <a:t> &amp; Price ≤ ₹600</a:t>
            </a:r>
          </a:p>
          <a:p>
            <a:pPr>
              <a:defRPr sz="2000"/>
            </a:pPr>
            <a:r>
              <a:rPr sz="1800" dirty="0"/>
              <a:t>Great </a:t>
            </a:r>
            <a:r>
              <a:rPr sz="1800" b="1" dirty="0"/>
              <a:t>value-for-money</a:t>
            </a:r>
            <a:r>
              <a:rPr sz="1800" dirty="0"/>
              <a:t> restaurants across key localities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C4365-6142-5C4D-3A32-4FC93EA0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199" y="2285042"/>
            <a:ext cx="5927601" cy="45007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733"/>
            <a:ext cx="8229600" cy="1143000"/>
          </a:xfrm>
        </p:spPr>
        <p:txBody>
          <a:bodyPr>
            <a:noAutofit/>
          </a:bodyPr>
          <a:lstStyle/>
          <a:p>
            <a:r>
              <a:rPr sz="3200" dirty="0"/>
              <a:t>Linear Regression – Predicting Dining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4698"/>
            <a:ext cx="5852160" cy="2075688"/>
          </a:xfrm>
        </p:spPr>
        <p:txBody>
          <a:bodyPr>
            <a:normAutofit/>
          </a:bodyPr>
          <a:lstStyle/>
          <a:p>
            <a:endParaRPr sz="2400" dirty="0"/>
          </a:p>
          <a:p>
            <a:pPr>
              <a:defRPr sz="2000"/>
            </a:pPr>
            <a:r>
              <a:rPr sz="1600" b="1" dirty="0"/>
              <a:t>Features</a:t>
            </a:r>
            <a:r>
              <a:rPr sz="1600" dirty="0"/>
              <a:t>: Pricing_for_2, Votes, </a:t>
            </a:r>
            <a:r>
              <a:rPr sz="1600" dirty="0" err="1"/>
              <a:t>Delivery_Rating</a:t>
            </a:r>
            <a:endParaRPr sz="1600" dirty="0"/>
          </a:p>
          <a:p>
            <a:pPr>
              <a:defRPr sz="2000"/>
            </a:pPr>
            <a:r>
              <a:rPr sz="1600" b="1" dirty="0"/>
              <a:t>Target</a:t>
            </a:r>
            <a:r>
              <a:rPr sz="1600" dirty="0"/>
              <a:t>: </a:t>
            </a:r>
            <a:r>
              <a:rPr sz="1600" dirty="0" err="1"/>
              <a:t>Dining_Rating</a:t>
            </a:r>
            <a:endParaRPr sz="1600" dirty="0"/>
          </a:p>
          <a:p>
            <a:pPr>
              <a:defRPr sz="2000"/>
            </a:pPr>
            <a:r>
              <a:rPr sz="1600" dirty="0"/>
              <a:t>Model: </a:t>
            </a:r>
            <a:r>
              <a:rPr sz="1600" b="1" dirty="0"/>
              <a:t>Linear Regression </a:t>
            </a:r>
            <a:r>
              <a:rPr sz="1600" dirty="0"/>
              <a:t>with train-test split</a:t>
            </a:r>
          </a:p>
          <a:p>
            <a:pPr>
              <a:defRPr sz="2000"/>
            </a:pPr>
            <a:r>
              <a:rPr sz="1600" dirty="0"/>
              <a:t>Output: </a:t>
            </a:r>
            <a:r>
              <a:rPr sz="1600" b="1" dirty="0"/>
              <a:t>Scatter plot </a:t>
            </a:r>
            <a:r>
              <a:rPr sz="1600" dirty="0"/>
              <a:t>(Actual vs Predicted), R² score, MSE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76603-C9BD-FE7A-B559-CACB39876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10" y="2427728"/>
            <a:ext cx="5747009" cy="44344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/>
          </a:bodyPr>
          <a:lstStyle/>
          <a:p>
            <a:r>
              <a:rPr sz="3200" dirty="0" err="1"/>
              <a:t>KMeans</a:t>
            </a:r>
            <a:r>
              <a:rPr sz="3200" dirty="0"/>
              <a:t> Clustering – Location &amp;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1828800"/>
          </a:xfrm>
        </p:spPr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1800" b="1" dirty="0"/>
              <a:t>Features</a:t>
            </a:r>
            <a:r>
              <a:rPr sz="1800" dirty="0"/>
              <a:t>: Latitude, Longitude, Pricing_for_2</a:t>
            </a:r>
          </a:p>
          <a:p>
            <a:pPr>
              <a:defRPr sz="2000"/>
            </a:pPr>
            <a:r>
              <a:rPr sz="1800" dirty="0"/>
              <a:t>Used Elbow Method to determine optimal K</a:t>
            </a:r>
          </a:p>
          <a:p>
            <a:pPr>
              <a:defRPr sz="2000"/>
            </a:pPr>
            <a:r>
              <a:rPr sz="1800" dirty="0"/>
              <a:t>Identified clusters of </a:t>
            </a:r>
            <a:r>
              <a:rPr sz="1800" b="1" dirty="0"/>
              <a:t>budget, mid-range, and premium restaurants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4D3B97-E56C-6409-656E-64463D2C4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39513"/>
            <a:ext cx="6771140" cy="43319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High-rated restaurants don't need to be expensive</a:t>
            </a:r>
          </a:p>
          <a:p>
            <a:pPr>
              <a:defRPr sz="2000"/>
            </a:pPr>
            <a:r>
              <a:t>Chain status doesn't guarantee better ratings</a:t>
            </a:r>
          </a:p>
          <a:p>
            <a:pPr>
              <a:defRPr sz="2000"/>
            </a:pPr>
            <a:r>
              <a:t>KMeans revealed location-based pricing zones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Combined EDA with ML to gain business insights</a:t>
            </a:r>
          </a:p>
          <a:p>
            <a:pPr>
              <a:defRPr sz="2000"/>
            </a:pPr>
            <a:r>
              <a:t>Regression predicted customer satisfaction trends</a:t>
            </a:r>
          </a:p>
          <a:p>
            <a:pPr>
              <a:defRPr sz="2000"/>
            </a:pPr>
            <a:r>
              <a:t>Clustering supported geo-targeted strategy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Thank you for your attention!</a:t>
            </a:r>
          </a:p>
          <a:p>
            <a:pPr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416</Words>
  <Application>Microsoft Office PowerPoint</Application>
  <PresentationFormat>On-screen Show (4:3)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Restaurant Rating Analysis &amp; Prediction Using Machine Learning</vt:lpstr>
      <vt:lpstr>Introduction</vt:lpstr>
      <vt:lpstr>Dataset Overview</vt:lpstr>
      <vt:lpstr>Data Preprocessing</vt:lpstr>
      <vt:lpstr>EDA 1 – Most Common Restaurant Categories</vt:lpstr>
      <vt:lpstr>EDA 2 – Price Distribution</vt:lpstr>
      <vt:lpstr>EDA 3 – Correlation Between Price and Rating</vt:lpstr>
      <vt:lpstr>EDA 4 – Word Cloud for 'Known For'</vt:lpstr>
      <vt:lpstr>EDA 5 – Best Locations for Restaurants</vt:lpstr>
      <vt:lpstr>EDA 6 – Delivery Rating vs Dining Rating</vt:lpstr>
      <vt:lpstr>EDA 7 – Chain vs Independent Restaurants</vt:lpstr>
      <vt:lpstr>EDA 8 – Best Budget-Friendly Restaurants</vt:lpstr>
      <vt:lpstr>Linear Regression – Predicting Dining Rating</vt:lpstr>
      <vt:lpstr>KMeans Clustering – Location &amp; Pricing</vt:lpstr>
      <vt:lpstr>Key Takeaways</vt:lpstr>
      <vt:lpstr>Conclusion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vishwaraj khatpe</dc:creator>
  <cp:keywords/>
  <dc:description>generated using python-pptx</dc:description>
  <cp:lastModifiedBy>Vishwaraj Khatpe</cp:lastModifiedBy>
  <cp:revision>4</cp:revision>
  <dcterms:created xsi:type="dcterms:W3CDTF">2013-01-27T09:14:16Z</dcterms:created>
  <dcterms:modified xsi:type="dcterms:W3CDTF">2025-04-10T03:20:44Z</dcterms:modified>
  <cp:category/>
</cp:coreProperties>
</file>